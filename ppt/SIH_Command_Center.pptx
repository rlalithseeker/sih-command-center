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SMART INDIA HACKATHON 2026 | COMMAND CENTER</a:t>
            </a:r>
          </a:p>
          <a:p>
            <a:pPr>
              <a:spcBef>
                <a:spcPts val="800"/>
              </a:spcBef>
              <a:defRPr sz="3600" b="1">
                <a:solidFill>
                  <a:srgbClr val="F8FAFC"/>
                </a:solidFill>
              </a:defRPr>
            </a:pPr>
            <a:r>
              <a:t>Centralised SPOC Operations &amp; Deliverable Engine</a:t>
            </a:r>
          </a:p>
          <a:p>
            <a:pPr>
              <a:spcBef>
                <a:spcPts val="1200"/>
              </a:spcBef>
              <a:defRPr sz="1400">
                <a:solidFill>
                  <a:srgbClr val="94A3B8"/>
                </a:solidFill>
              </a:defRPr>
            </a:pPr>
            <a:r>
              <a:t>Production-grade MERN architecture - Hardened validation - Stress-tested concurrency - Zero-loss demo mode</a:t>
            </a:r>
          </a:p>
          <a:p>
            <a:pPr>
              <a:spcBef>
                <a:spcPts val="2800"/>
              </a:spcBef>
              <a:defRPr sz="1300" b="1">
                <a:solidFill>
                  <a:srgbClr val="2563EB"/>
                </a:solidFill>
              </a:defRPr>
            </a:pPr>
            <a:r>
              <a:t>Woxsen University | B.Tech CSE SEM 5 | Full Stack Development (24TU05MJC1)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Team of 4: Lead Integrator - Frontend Engineer - Backend Engineer - QA &amp; Reliability Lead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COMMAND CENTER | PBL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SPOC Operational Bottleneck &amp; Technical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Current Failure Modes (Spreadsheet 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DC2626"/>
                </a:solidFill>
              </a:defRPr>
            </a:pPr>
            <a:r>
              <a:t>- Silent Composition Violations: </a:t>
            </a:r>
            <a:r>
              <a:rPr b="0">
                <a:solidFill>
                  <a:srgbClr val="334155"/>
                </a:solidFill>
              </a:rPr>
              <a:t>SIH needs 6 members with 1+ female. Excel cannot enforce atomic pre-commit validation.</a:t>
            </a:r>
          </a:p>
          <a:p>
            <a:pPr>
              <a:spcAft>
                <a:spcPts val="800"/>
              </a:spcAft>
              <a:defRPr b="1" sz="1100">
                <a:solidFill>
                  <a:srgbClr val="DC2626"/>
                </a:solidFill>
              </a:defRPr>
            </a:pPr>
            <a:r>
              <a:t>- Problem Statement Clashing: </a:t>
            </a:r>
            <a:r>
              <a:rPr b="0">
                <a:solidFill>
                  <a:srgbClr val="334155"/>
                </a:solidFill>
              </a:rPr>
              <a:t>Duplicates allocated across silos with no shared real-time uniqueness constraint.</a:t>
            </a:r>
          </a:p>
          <a:p>
            <a:pPr>
              <a:spcAft>
                <a:spcPts val="800"/>
              </a:spcAft>
              <a:defRPr b="1" sz="1100">
                <a:solidFill>
                  <a:srgbClr val="DC2626"/>
                </a:solidFill>
              </a:defRPr>
            </a:pPr>
            <a:r>
              <a:t>- Unbalanced Mentor Saturation: </a:t>
            </a:r>
            <a:r>
              <a:rPr b="0">
                <a:solidFill>
                  <a:srgbClr val="334155"/>
                </a:solidFill>
              </a:rPr>
              <a:t>Mentors exceed bandwidth while others idle; load tracking is fully manual.</a:t>
            </a:r>
          </a:p>
          <a:p>
            <a:pPr>
              <a:spcAft>
                <a:spcPts val="800"/>
              </a:spcAft>
              <a:defRPr b="1" sz="1100">
                <a:solidFill>
                  <a:srgbClr val="DC2626"/>
                </a:solidFill>
              </a:defRPr>
            </a:pPr>
            <a:r>
              <a:t>- Unquantified Readiness: </a:t>
            </a:r>
            <a:r>
              <a:rPr b="0">
                <a:solidFill>
                  <a:srgbClr val="334155"/>
                </a:solidFill>
              </a:rPr>
              <a:t>No continuous score (GitHub, PPT, video, report); SPOC inspects each Drive manually.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087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System Requirements &amp; Design Guarantees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Atomic Hard-Blocking Validation: </a:t>
            </a:r>
            <a:r>
              <a:rPr b="0">
                <a:solidFill>
                  <a:srgbClr val="334155"/>
                </a:solidFill>
              </a:rPr>
              <a:t>HTTP 400 rejection of bad rosters before persistence.</a:t>
            </a:r>
          </a:p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Real-time Duplicate Prevention: </a:t>
            </a:r>
            <a:r>
              <a:rPr b="0">
                <a:solidFill>
                  <a:srgbClr val="334155"/>
                </a:solidFill>
              </a:rPr>
              <a:t>Unique lock per PS id with explicit SPOC override flag.</a:t>
            </a:r>
          </a:p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Heuristic Auto-Allocation Engine: </a:t>
            </a:r>
            <a:r>
              <a:rPr b="0">
                <a:solidFill>
                  <a:srgbClr val="334155"/>
                </a:solidFill>
              </a:rPr>
              <a:t>Least-loaded mentor assignment under max-capacity limits.</a:t>
            </a:r>
          </a:p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Multi-factor Readiness Matrix: </a:t>
            </a:r>
            <a:r>
              <a:rPr b="0">
                <a:solidFill>
                  <a:srgbClr val="334155"/>
                </a:solidFill>
              </a:rPr>
              <a:t>25% per approved artifact, minus 25% penalties for missing mentor or bad team.</a:t>
            </a:r>
          </a:p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Resilient Fallback Mode: </a:t>
            </a:r>
            <a:r>
              <a:rPr b="0">
                <a:solidFill>
                  <a:srgbClr val="334155"/>
                </a:solidFill>
              </a:rPr>
              <a:t>Zero-config in-memory demo with hot-switch MongoDB persistence.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COMMAND CENTER | PBL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High-Level Architecture &amp; Persistence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1. Client Tier (Zero-Build)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Guided flow: </a:t>
            </a:r>
            <a:r>
              <a:rPr b="0">
                <a:solidFill>
                  <a:srgbClr val="334155"/>
                </a:solidFill>
              </a:rPr>
              <a:t>5 responsive HTML views, no build step.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Fetch bridge: </a:t>
            </a:r>
            <a:r>
              <a:rPr b="0">
                <a:solidFill>
                  <a:srgbClr val="334155"/>
                </a:solidFill>
              </a:rPr>
              <a:t>unified async client in app.js.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Sanitized output: </a:t>
            </a:r>
            <a:r>
              <a:rPr b="0">
                <a:solidFill>
                  <a:srgbClr val="334155"/>
                </a:solidFill>
              </a:rPr>
              <a:t>esc() filter on every render.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Mobile adaptive: </a:t>
            </a:r>
            <a:r>
              <a:rPr b="0">
                <a:solidFill>
                  <a:srgbClr val="334155"/>
                </a:solidFill>
              </a:rPr>
              <a:t>media queries for 390-640px.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2. API Engine (Express)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96596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- 15 REST routes: </a:t>
            </a:r>
            <a:r>
              <a:rPr b="0">
                <a:solidFill>
                  <a:srgbClr val="334155"/>
                </a:solidFill>
              </a:rPr>
              <a:t>teams, PS, mentors, deliverables.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Hardened parsing: </a:t>
            </a:r>
            <a:r>
              <a:rPr b="0">
                <a:solidFill>
                  <a:srgbClr val="334155"/>
                </a:solidFill>
              </a:rPr>
              <a:t>JSON shape + size enforcement.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SIH scraper: </a:t>
            </a:r>
            <a:r>
              <a:rPr b="0">
                <a:solidFill>
                  <a:srgbClr val="334155"/>
                </a:solidFill>
              </a:rPr>
              <a:t>live ingest from sih.gov.in.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Exports: </a:t>
            </a:r>
            <a:r>
              <a:rPr b="0">
                <a:solidFill>
                  <a:srgbClr val="334155"/>
                </a:solidFill>
              </a:rPr>
              <a:t>RFC 4180 CSV + printable report.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0876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3. Dual-Tier Persistence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In-memory default: </a:t>
            </a:r>
            <a:r>
              <a:rPr b="0">
                <a:solidFill>
                  <a:srgbClr val="334155"/>
                </a:solidFill>
              </a:rPr>
              <a:t>instant demo, no Mongo needed.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Mongo via Mongoose: </a:t>
            </a:r>
            <a:r>
              <a:rPr b="0">
                <a:solidFill>
                  <a:srgbClr val="334155"/>
                </a:solidFill>
              </a:rPr>
              <a:t>activates on MONGO_URI.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Graceful fallback: </a:t>
            </a:r>
            <a:r>
              <a:rPr b="0">
                <a:solidFill>
                  <a:srgbClr val="334155"/>
                </a:solidFill>
              </a:rPr>
              <a:t>DB failure drops to memory.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Crash-resistant: </a:t>
            </a:r>
            <a:r>
              <a:rPr b="0">
                <a:solidFill>
                  <a:srgbClr val="334155"/>
                </a:solidFill>
              </a:rPr>
              <a:t>bad payloads return 400/500.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Data Model &amp; Entity Relationships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rPr b="0">
                <a:solidFill>
                  <a:srgbClr val="334155"/>
                </a:solidFill>
              </a:rPr>
              <a:t>Teams {id, name, leadEmail, members[6], psId, mentorId} | PS {id, code, sihId, title, category, org, takenBy}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rPr b="0">
                <a:solidFill>
                  <a:srgbClr val="334155"/>
                </a:solidFill>
              </a:rPr>
              <a:t>Mentors {id, name, dept, maxTeams, load} | Deliverables {teamId, type, link, status} 1:4 | Milestones {id, name, date, daysLeft}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COMMAND CENTER | PBL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Engineering Deliverables: What Has Been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1. Team Roster Enforcement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Guided 3-step wizard with prefilled lead details.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Server validation: exactly 6, min 1 female.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Auto-provisions 4 deliverable slots per team.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2. PS Catalog &amp; Live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One-click scraper of official sih.gov.in table.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Search by SIH number (e.g. SIH25001).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Duplicate detection with allowDuplicate override.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3. Mentor Assignment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Live load view: current teams vs maxTeams.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One-click auto-assign to least-loaded mentor.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Full mentors blocked automatically (400).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931920"/>
            <a:ext cx="51206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0690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4. Readiness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4348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4 items: GitHub, PPT, video, report.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Readiness = approved/4 minus 25% penalties.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</a:t>
            </a:r>
            <a:r>
              <a:rPr b="0">
                <a:solidFill>
                  <a:srgbClr val="334155"/>
                </a:solidFill>
              </a:rPr>
              <a:t>CSV export + printable PDF-ready 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COMMAND CENTER | PBL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Security Hardening, Error Handling &amp; Concurrency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Vulnerabilities Found &amp;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DoS crash: </a:t>
            </a:r>
            <a:r>
              <a:rPr b="0">
                <a:solidFill>
                  <a:srgbClr val="334155"/>
                </a:solidFill>
              </a:rPr>
              <a:t>non-array members killed Node. Fixed with type guard + global error handler.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Stored XSS: </a:t>
            </a:r>
            <a:r>
              <a:rPr b="0">
                <a:solidFill>
                  <a:srgbClr val="334155"/>
                </a:solidFill>
              </a:rPr>
              <a:t>team names ran in innerHTML. Fixed with esc() on backend report + all pages.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Link injection: </a:t>
            </a:r>
            <a:r>
              <a:rPr b="0">
                <a:solidFill>
                  <a:srgbClr val="334155"/>
                </a:solidFill>
              </a:rPr>
              <a:t>javascript: URLs in deliverables. Fixed: only http(s) become links.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Silent failures: </a:t>
            </a:r>
            <a:r>
              <a:rPr b="0">
                <a:solidFill>
                  <a:srgbClr val="334155"/>
                </a:solidFill>
              </a:rPr>
              <a:t>blank pages on network loss. Fixed: loadFailed() banners everywhere.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087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Empirical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+ 40/40 functional: </a:t>
            </a:r>
            <a:r>
              <a:rPr b="0">
                <a:solidFill>
                  <a:srgbClr val="334155"/>
                </a:solidFill>
              </a:rPr>
              <a:t>composition, duplicates, countdowns, exports all pass.</a:t>
            </a:r>
          </a:p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+ 27/27 stress: </a:t>
            </a:r>
            <a:r>
              <a:rPr b="0">
                <a:solidFill>
                  <a:srgbClr val="334155"/>
                </a:solidFill>
              </a:rPr>
              <a:t>200 GETs in 447ms (~450/s); 50 concurrent in 77ms, zero failures.</a:t>
            </a:r>
          </a:p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Parallel writes: </a:t>
            </a:r>
            <a:r>
              <a:rPr b="0">
                <a:solidFill>
                  <a:srgbClr val="334155"/>
                </a:solidFill>
              </a:rPr>
              <a:t>10 simultaneous team creates, no races or id collisions.</a:t>
            </a:r>
          </a:p>
          <a:p>
            <a:pPr>
              <a:spcAft>
                <a:spcPts val="800"/>
              </a:spcAft>
              <a:defRPr b="1" sz="1100">
                <a:solidFill>
                  <a:srgbClr val="16A34A"/>
                </a:solidFill>
              </a:defRPr>
            </a:pPr>
            <a:r>
              <a:t>+ 38/38 browser: </a:t>
            </a:r>
            <a:r>
              <a:rPr b="0">
                <a:solidFill>
                  <a:srgbClr val="334155"/>
                </a:solidFill>
              </a:rPr>
              <a:t>headless Chrome at 390px + 1280px, no errors, no overflow.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COMMAND CENTER | PBL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Future Roadmap: Production Scaling &amp; Advanced Capabilities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Phase 1: Security &amp; Identity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RBAC: </a:t>
            </a:r>
            <a:r>
              <a:rPr b="0">
                <a:solidFill>
                  <a:srgbClr val="334155"/>
                </a:solidFill>
              </a:rPr>
              <a:t>SPOC admin, mentors, team leads with JWT sessions.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SSO: </a:t>
            </a:r>
            <a:r>
              <a:rPr b="0">
                <a:solidFill>
                  <a:srgbClr val="334155"/>
                </a:solidFill>
              </a:rPr>
              <a:t>OAuth bridge with campus Microsoft 365 directory.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Audit trails: </a:t>
            </a:r>
            <a:r>
              <a:rPr b="0">
                <a:solidFill>
                  <a:srgbClr val="334155"/>
                </a:solidFill>
              </a:rPr>
              <a:t>immutable log of approvals and edits.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Phase 2: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659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Email alerts: </a:t>
            </a:r>
            <a:r>
              <a:rPr b="0">
                <a:solidFill>
                  <a:srgbClr val="334155"/>
                </a:solidFill>
              </a:rPr>
              <a:t>SMTP notices on revision flags.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WhatsApp pushes: </a:t>
            </a:r>
            <a:r>
              <a:rPr b="0">
                <a:solidFill>
                  <a:srgbClr val="334155"/>
                </a:solidFill>
              </a:rPr>
              <a:t>deadline countdowns to team leads.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Review portals: </a:t>
            </a:r>
            <a:r>
              <a:rPr b="0">
                <a:solidFill>
                  <a:srgbClr val="334155"/>
                </a:solidFill>
              </a:rPr>
              <a:t>one-click approve links in mentor 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0876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Phase 3: Data &amp; 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9659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Postgres: </a:t>
            </a:r>
            <a:r>
              <a:rPr b="0">
                <a:solidFill>
                  <a:srgbClr val="334155"/>
                </a:solidFill>
              </a:rPr>
              <a:t>relational schema via Prisma ORM.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Artifact storage: </a:t>
            </a:r>
            <a:r>
              <a:rPr b="0">
                <a:solidFill>
                  <a:srgbClr val="334155"/>
                </a:solidFill>
              </a:rPr>
              <a:t>S3/R2 buckets + GitHub verification.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Coolify deploy: </a:t>
            </a:r>
            <a:r>
              <a:rPr b="0">
                <a:solidFill>
                  <a:srgbClr val="334155"/>
                </a:solidFill>
              </a:rPr>
              <a:t>Docker + health checks + snapshots.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COMMAND CENTER | PBL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Viva Defense &amp; Live Demonstration Runbook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Live 3-Minute Demo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- 1. Rejection: </a:t>
            </a:r>
            <a:r>
              <a:rPr b="0">
                <a:solidFill>
                  <a:srgbClr val="334155"/>
                </a:solidFill>
              </a:rPr>
              <a:t>submit 5-member team, show HTTP 400 block.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- 2. Happy path: </a:t>
            </a:r>
            <a:r>
              <a:rPr b="0">
                <a:solidFill>
                  <a:srgbClr val="334155"/>
                </a:solidFill>
              </a:rPr>
              <a:t>register valid team, wizard reaches Done.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- 3. Duplicate guard: </a:t>
            </a:r>
            <a:r>
              <a:rPr b="0">
                <a:solidFill>
                  <a:srgbClr val="334155"/>
                </a:solidFill>
              </a:rPr>
              <a:t>claim taken PS, then allowDuplicate override.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- 4. Auto-mentor: </a:t>
            </a:r>
            <a:r>
              <a:rPr b="0">
                <a:solidFill>
                  <a:srgbClr val="334155"/>
                </a:solidFill>
              </a:rPr>
              <a:t>least-loaded assignment on mentors page.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- 5. Readiness climb: </a:t>
            </a:r>
            <a:r>
              <a:rPr b="0">
                <a:solidFill>
                  <a:srgbClr val="334155"/>
                </a:solidFill>
              </a:rPr>
              <a:t>approve 2 items, watch score rise.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- 6. Export: </a:t>
            </a:r>
            <a:r>
              <a:rPr b="0">
                <a:solidFill>
                  <a:srgbClr val="334155"/>
                </a:solidFill>
              </a:rPr>
              <a:t>open CSV in Excel + printable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087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Anticipated Viva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2563EB"/>
                </a:solidFill>
              </a:defRPr>
            </a:pPr>
            <a:r>
              <a:t>Q: Single-file server? </a:t>
            </a:r>
            <a:r>
              <a:rPr b="0">
                <a:solidFill>
                  <a:srgbClr val="334155"/>
                </a:solidFill>
              </a:rPr>
              <a:t>Easy viva inspection of full lifecycle.</a:t>
            </a:r>
          </a:p>
          <a:p>
            <a:pPr>
              <a:spcAft>
                <a:spcPts val="800"/>
              </a:spcAft>
              <a:defRPr b="1" sz="1100">
                <a:solidFill>
                  <a:srgbClr val="2563EB"/>
                </a:solidFill>
              </a:defRPr>
            </a:pPr>
            <a:r>
              <a:t>Q: Memory-first DB? </a:t>
            </a:r>
            <a:r>
              <a:rPr b="0">
                <a:solidFill>
                  <a:srgbClr val="334155"/>
                </a:solidFill>
              </a:rPr>
              <a:t>Demo-safe on any PC; Mongo via one env var.</a:t>
            </a:r>
          </a:p>
          <a:p>
            <a:pPr>
              <a:spcAft>
                <a:spcPts val="800"/>
              </a:spcAft>
              <a:defRPr b="1" sz="1100">
                <a:solidFill>
                  <a:srgbClr val="2563EB"/>
                </a:solidFill>
              </a:defRPr>
            </a:pPr>
            <a:r>
              <a:t>Q: No Tailwind? </a:t>
            </a:r>
            <a:r>
              <a:rPr b="0">
                <a:solidFill>
                  <a:srgbClr val="334155"/>
                </a:solidFill>
              </a:rPr>
              <a:t>Zero-build; runs straight from disk.</a:t>
            </a:r>
          </a:p>
          <a:p>
            <a:pPr>
              <a:spcAft>
                <a:spcPts val="800"/>
              </a:spcAft>
              <a:defRPr b="1" sz="1100">
                <a:solidFill>
                  <a:srgbClr val="2563EB"/>
                </a:solidFill>
              </a:defRPr>
            </a:pPr>
            <a:r>
              <a:t>Q: Duplicate race? </a:t>
            </a:r>
            <a:r>
              <a:rPr b="0">
                <a:solidFill>
                  <a:srgbClr val="334155"/>
                </a:solidFill>
              </a:rPr>
              <a:t>Atomic PS check before commit; 400 on clash.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SIH COMMAND CENTER | PBL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Project Summary &amp; Engineering Contributions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Full-Stack / Integrator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You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Core architecture &amp; integration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Dashboard &amp; readiness logic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API wiring &amp; hardening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Deployment +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4688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5087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Frontend 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96596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Member 2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- 5 responsive pages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- 3-step team wizard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Mobile @390px CSS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Validation + esc()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24688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5087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Backend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96596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Member 3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- 15 REST endpoints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Mongoose dual-tier store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SIH portal scraper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CSV + report exports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371600"/>
            <a:ext cx="24688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50876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QA &amp; Reliability Lead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96596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Member 4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- 105 automated cases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Stress + browser suites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DoS + XSS audit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- PPT + viva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